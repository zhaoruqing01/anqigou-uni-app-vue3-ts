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尊敬的各位评委老师，下午好。我是XXX，我的毕业论文题目是《安琦购微信小程序电商平台》。今天，我将从研究背景、文献综述、研究内容、技术方案等方面，对我的开题报告进行详细的阐述。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围绕以下十个方面展开。首先，我会介绍项目的研究背景与意义。其次，将对相关领域的文献进行综述。再次，明确本研究的目标、内容、技术方案和创新点。最后，对项目的可行性、预期成果、进度安排等进行说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研究背景与意义。随着电商行业的蓬勃发展和移动互联网的普及，微信小程序以其独特的优势，为电商行业带来了新的机遇。然而，广大中小商家在数字化转型过程中，却面临着诸多挑战。因此，本项目的研究，不仅具有理论上的探索价值，更具有重要的实践指导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分析，我确立了本研究的目标和内容。我的研究目标是设计并实现一个功能完善、用户体验良好的微信小程序电商平台“安琦购”，并探索其运营策略。为了实现这一目标，我将从需求分析、平台设计、功能开发和系统测试四个方面展开具体的研究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在技术实现方面，我将采用业界成熟的软件开发流程。平台的前端将基于微信小程序原生框架进行开发，以保证最佳的用户体验。后端将采用Spring Boot和Spring Cloud微服务架构，确保系统的稳定性和可扩展性。数据存储将使用MySQL和Redis相结合的方式。整个平台将部署在阿里云服务器上。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创新点主要体现在三个方面。模式上，我们将充分利用微信生态的社交属性，实现低成本的社交裂变获客。功能上，我们将打造一个集成度高、操作简便的一站式平台。技术上，微服务架构的采用将确保平台能够灵活应对未来的业务增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对项目的可行性进行了分析。技术上，我们选用的都是成熟可靠的开源技术，团队也具备相应的开发能力。经济上，项目的整体成本相对较低，具有良好的投入产出比。操作上，无论是面向消费者的小程序端，还是面向商家的管理后台，都将注重易用性，确保项目能够顺利落地和推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本项目的预期成果包括两个部分：一个可实际运行的电商平台以及一篇完整的毕业论文。研究价值主要体现在个人成长和实践参考两个方面，通过项目实践深化专业知识应用，并为同类项目提供参考案例。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为了确保项目能够按时完成，我制定了详细的研究进度安排。整个项目周期为9个月，我将分阶段完成文献调研、需求分析、设计开发、测试优化以及论文撰写等各项工作。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在本项目的研究过程中，我将主要参考以上这些文献资料，它们将为我的研究工作提供坚实的理论基础和技术指导。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最后，再次感谢各位评委老师的聆听。我的报告到此结束，恳请各位老师批评指正。谢谢！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1.xml"/><Relationship Id="rId3" Type="http://schemas.openxmlformats.org/officeDocument/2006/relationships/image" Target="../media/image4.svg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16.svg"/><Relationship Id="rId24" Type="http://schemas.openxmlformats.org/officeDocument/2006/relationships/image" Target="../media/image15.png"/><Relationship Id="rId23" Type="http://schemas.openxmlformats.org/officeDocument/2006/relationships/tags" Target="../tags/tag10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9.xml"/><Relationship Id="rId2" Type="http://schemas.openxmlformats.org/officeDocument/2006/relationships/image" Target="../media/image3.png"/><Relationship Id="rId19" Type="http://schemas.openxmlformats.org/officeDocument/2006/relationships/tags" Target="../tags/tag8.xml"/><Relationship Id="rId18" Type="http://schemas.openxmlformats.org/officeDocument/2006/relationships/image" Target="../media/image12.svg"/><Relationship Id="rId17" Type="http://schemas.openxmlformats.org/officeDocument/2006/relationships/image" Target="../media/image11.png"/><Relationship Id="rId16" Type="http://schemas.openxmlformats.org/officeDocument/2006/relationships/tags" Target="../tags/tag7.xml"/><Relationship Id="rId15" Type="http://schemas.openxmlformats.org/officeDocument/2006/relationships/tags" Target="../tags/tag6.xml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tags" Target="../tags/tag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1">
              <a:alphaModFix amt="8000"/>
            </a:blip>
            <a:stretch>
              <a:fillRect/>
            </a:stretch>
          </a:blipFill>
          <a:ln w="25400"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889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安琦购微信小程序电商平台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12277">
            <a:off x="1016011" y="4057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431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论文开题报告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答辩人：赵汝庆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461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指导教师：董光智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84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日期：2026年1月16日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/Users/35291/Desktop/图片1.png图片1"/>
          <p:cNvPicPr>
            <a:picLocks noChangeAspect="1"/>
          </p:cNvPicPr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905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功能设计与实现</a:t>
            </a:r>
            <a:endParaRPr lang="en-US" sz="18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24765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2476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研究目标与内容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048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304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技术路线与方案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6195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3619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研究创新点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4788">
            <a:off x="4660900" y="3270264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4191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651000" y="4191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1905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预期成果与研究价值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24765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2476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研究进度安排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3048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39000" y="304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36195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239000" y="3619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功能设计与实现</a:t>
            </a:r>
            <a:endParaRPr lang="en-US" sz="3600" b="1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8288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功能设计</a:t>
            </a:r>
            <a:endParaRPr lang="en-US" sz="18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以商品展示、在线购物、物流跟踪为核心设计，支持多条件分类搜索、智能模糊匹配、多元支付及物流通知与评价，适配微信小程序场景，满足用户精准筛选与便捷消费需求。</a:t>
            </a:r>
            <a:endParaRPr lang="zh-CN" alt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291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32258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计划实现</a:t>
            </a:r>
            <a:endParaRPr lang="en-US" sz="18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altLang="zh-CN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及数据库核心技术栈，搭建微信小程序框架，逐步完成商品展示、在线购物</a:t>
            </a:r>
            <a:r>
              <a:rPr lang="zh-CN" altLang="en-US" sz="1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、模糊搜索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等核心模块的开发与整合。</a:t>
            </a:r>
            <a:endParaRPr lang="zh-CN" alt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开展全面功能测试与性能优化，精准排查问题，收集用户反馈并持续迭代，不断完善平台功能与使用体验。</a:t>
            </a:r>
            <a:endParaRPr lang="zh-CN" alt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/Users/35291/Desktop/图片1.png图片1"/>
          <p:cNvPicPr>
            <a:picLocks noChangeAspect="1"/>
          </p:cNvPicPr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研究目标与内容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885950"/>
            <a:ext cx="5080000" cy="430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14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524000" y="2494165"/>
            <a:ext cx="4572000" cy="7602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设计并实现一个功能完善、用户体验良好的微信小程序电商平台“安琦购”。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27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523365" y="3327227"/>
            <a:ext cx="4572000" cy="506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具备商品展示、在线交易、物流跟踪、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订单管理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等核心功能。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140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1524000" y="4166755"/>
            <a:ext cx="4572000" cy="506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探索一套适合中小商家的微信小程序电商运营策略。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1"/>
            </p:custDataLst>
          </p:nvPr>
        </p:nvCxnSpPr>
        <p:spPr>
          <a:xfrm rot="5387809">
            <a:off x="4520859" y="3663950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3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18796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研究内容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2514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7112000" y="24892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需求分析：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深入分析用户在购物过程中的需求和痛点。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4000" y="3327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7112000" y="330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平台设计：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进行平台的整体架构设计、数据库设计和界面设计。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4000" y="4140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112000" y="41148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功能开发：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基于uni-app和Spring Boot等框架，开发商品展示、在线购物、物流跟踪等核心功能。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04000" y="5207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1816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系统测试：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对平台进行全面的功能测试和性能测试。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>
            <a:off x="899795" y="6187440"/>
            <a:ext cx="10404475" cy="2794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/Users/35291/Desktop/图片1.png图片1"/>
          <p:cNvPicPr>
            <a:picLocks noChangeAspect="1"/>
          </p:cNvPicPr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技术路线与方案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524000"/>
            <a:ext cx="101600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36700"/>
            <a:ext cx="101600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2514600" cy="35560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5000"/>
              </a:srgbClr>
            </a:solidFill>
            <a:prstDash val="solid"/>
            <a:round/>
          </a:ln>
          <a:effectLst>
            <a:outerShdw blurRad="355600" dist="1524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25400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Vue3 + uni-app + TypeScript + Vite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微信小程序UI组件库 (uni-ui / ColorUI)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20574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27200" y="20828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1905000"/>
            <a:ext cx="2514600" cy="35560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5000"/>
              </a:srgbClr>
            </a:solidFill>
            <a:prstDash val="solid"/>
            <a:round/>
          </a:ln>
          <a:effectLst>
            <a:outerShdw blurRad="355600" dist="1524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25400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ctr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核心框架：Spring Boot, Spring MVC, Spring Cloud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ORM框架：MyBatis, MyBatis-Plus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安全框架：Spring Security, JWT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200" y="20574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94200" y="20828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905000"/>
            <a:ext cx="2514600" cy="35560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5000"/>
              </a:srgbClr>
            </a:solidFill>
            <a:prstDash val="solid"/>
            <a:round/>
          </a:ln>
          <a:effectLst>
            <a:outerShdw blurRad="355600" dist="1524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25400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关系型数据库: MySQL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缓存：Redis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20574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61200" y="20828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数据库与缓存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17000" y="1905000"/>
            <a:ext cx="2514600" cy="35560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5000"/>
              </a:srgbClr>
            </a:solidFill>
            <a:prstDash val="solid"/>
            <a:round/>
          </a:ln>
          <a:effectLst>
            <a:outerShdw blurRad="355600" dist="1524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2540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第三方服务与工具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支付接口：模拟支付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物流接口：模拟物流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搜索服务：Elasticsearch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1">
              <a:alphaModFix amt="10000"/>
            </a:blip>
            <a:stretch>
              <a:fillRect/>
            </a:stretch>
          </a:blipFill>
          <a:ln w="25400"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研究创新点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905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一体化用户体验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：将商品浏览、下单、支付、物流查询等功能无缝集成，提供流畅的购物体验。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智能搜索与推荐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：引入智能搜索算法，提升用户查找商品的效率。</a:t>
            </a:r>
            <a:endParaRPr 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实时物流跟踪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：通过本地数据模拟，实现订单物流状态的实时查询与推送。</a:t>
            </a:r>
            <a:endParaRPr 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微服务架构设计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：采用Spring Cloud微服务架构，实现系统的高内聚、低耦合，便于独立开发、部署和扩展。</a:t>
            </a:r>
            <a:endParaRPr 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分布式缓存策略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：利用Redis实现分布式缓存，有效减轻数据库压力，提升系统响应速度。</a:t>
            </a:r>
            <a:endParaRPr 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基于JWT的安全认证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：整合Spring Security与JWT，实现无状态的分布式身份认证，保障系统安全。</a:t>
            </a:r>
            <a:endParaRPr lang="en-US" sz="1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76400" y="19304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76400" y="23622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所选用的微信小程序、Spring Boot等技术均为成熟、稳定的开源技术，相关的开发文档和社区支持丰富，技术实现难度可控。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95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76400" y="45212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操作可行性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76400" y="4953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微信小程序具有庞大的用户基础和便捷的访问方式，用户接受度高。平台界面设计将遵循简洁、易用的原则。</a:t>
            </a:r>
            <a:endParaRPr lang="en-US" sz="1100"/>
          </a:p>
        </p:txBody>
      </p:sp>
      <p:sp>
        <p:nvSpPr>
          <p:cNvPr id="14" name="文本框 13"/>
          <p:cNvSpPr txBox="1"/>
          <p:nvPr/>
        </p:nvSpPr>
        <p:spPr>
          <a:xfrm>
            <a:off x="1614170" y="3200717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</a:rPr>
              <a:t>资源可行性</a:t>
            </a:r>
            <a:endParaRPr lang="zh-CN" altLang="en-US" sz="2000" b="1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24635" y="3629025"/>
            <a:ext cx="9651365" cy="92202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sz="1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项目开发所需的技术资源（如开源框架、开发工具）和数据资源（如模拟数据）均易于获取，个人技能储备也能满足开发需求。</a:t>
            </a:r>
            <a:endParaRPr lang="en-US" sz="18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2004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预期成果与研究价值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684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8542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89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5146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完成“安琦购”微信小程序电商平台的</a:t>
            </a:r>
            <a:b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设计与开发。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51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2766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提交一篇完整的毕业论文。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4230">
            <a:off x="4711685" y="3232179"/>
            <a:ext cx="27686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848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53594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本项目旨在通过理论与实践结合，创造兼具学术与应用价值的研究成果。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67500" y="20447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研究价值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2641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2578100"/>
            <a:ext cx="9652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个人成长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：通过项目实践，深化对前后端开发、</a:t>
            </a:r>
            <a:b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     管理等知识的理解和应用。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15100" y="3276600"/>
            <a:ext cx="304800" cy="351469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364467"/>
            <a:ext cx="9652000" cy="8493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实践参考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：为类似的个人项目或小型应用</a:t>
            </a:r>
            <a:b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开发提供参考案例。                       </a:t>
            </a:r>
            <a:endParaRPr lang="en-US" sz="1100"/>
          </a:p>
        </p:txBody>
      </p:sp>
      <p:sp>
        <p:nvSpPr>
          <p:cNvPr id="17" name="文本框 16"/>
          <p:cNvSpPr txBox="1"/>
          <p:nvPr/>
        </p:nvSpPr>
        <p:spPr>
          <a:xfrm>
            <a:off x="11074400" y="647636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研究进度安排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1016004" y="1517650"/>
            <a:ext cx="104140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>
            <p:custDataLst>
              <p:tags r:id="rId2"/>
            </p:custDataLst>
          </p:nvPr>
        </p:nvCxnSpPr>
        <p:spPr>
          <a:xfrm rot="5386778">
            <a:off x="-330225" y="3676688"/>
            <a:ext cx="330205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219200" y="2032000"/>
            <a:ext cx="203200" cy="203200"/>
          </a:xfrm>
          <a:prstGeom prst="ellipse">
            <a:avLst/>
          </a:prstGeom>
          <a:solidFill>
            <a:srgbClr val="003366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778000" y="2006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第1个月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778000" y="2387600"/>
            <a:ext cx="914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文献调研、需求分析。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219200" y="2921000"/>
            <a:ext cx="203200" cy="203200"/>
          </a:xfrm>
          <a:prstGeom prst="ellipse">
            <a:avLst/>
          </a:prstGeom>
          <a:solidFill>
            <a:srgbClr val="003366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778000" y="2895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第2-3个月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778000" y="3276600"/>
            <a:ext cx="914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平台设计与开发。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219200" y="3810000"/>
            <a:ext cx="203200" cy="203200"/>
          </a:xfrm>
          <a:prstGeom prst="ellipse">
            <a:avLst/>
          </a:prstGeom>
          <a:solidFill>
            <a:srgbClr val="003366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778000" y="378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第3-4个月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1778000" y="4165600"/>
            <a:ext cx="914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系统测试与优化。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1219200" y="4699000"/>
            <a:ext cx="203200" cy="203200"/>
          </a:xfrm>
          <a:prstGeom prst="ellipse">
            <a:avLst/>
          </a:prstGeom>
          <a:solidFill>
            <a:srgbClr val="003366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1778000" y="4673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第5个月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1778000" y="5054600"/>
            <a:ext cx="914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论文撰写与答辩准备。</a:t>
            </a:r>
            <a:endParaRPr lang="en-US" sz="1100"/>
          </a:p>
        </p:txBody>
      </p:sp>
      <p:sp>
        <p:nvSpPr>
          <p:cNvPr id="18" name="文本框 17"/>
          <p:cNvSpPr txBox="1"/>
          <p:nvPr/>
        </p:nvSpPr>
        <p:spPr>
          <a:xfrm>
            <a:off x="5524500" y="1805940"/>
            <a:ext cx="3503930" cy="371221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9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</a:rPr>
              <a:t>关键里程碑</a:t>
            </a:r>
            <a:endParaRPr lang="zh-CN" altLang="en-US" sz="1900" b="1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endParaRPr lang="zh-CN" altLang="en-US" sz="1900" b="1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完成开题报告，确定技术方案。</a:t>
            </a: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完成核心功能开发与单元测试。</a:t>
            </a: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完成系统集成测试，修复关键</a:t>
            </a:r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bug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。</a:t>
            </a: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完成论文终稿，准备答辩</a:t>
            </a:r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PPT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</a:rPr>
              <a:t>。</a:t>
            </a: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/Users/35291/Desktop/图片1.png图片1"/>
          <p:cNvPicPr>
            <a:picLocks noChangeAspect="1"/>
          </p:cNvPicPr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456954" y="1756956"/>
            <a:ext cx="11442700" cy="3505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457200" lvl="1" indent="0" algn="l">
              <a:lnSpc>
                <a:spcPct val="150000"/>
              </a:lnSpc>
              <a:defRPr/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 吴子珺．电子商务系统分析与设计[M]．第3版．北京：机械工业出版社，2024．</a:t>
            </a:r>
            <a:endParaRPr lang="en-US" sz="1100"/>
          </a:p>
          <a:p>
            <a:pPr marL="457200" lvl="1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[2] 龙芳,吴勇灵．微信小程序购物系统的设计与实现[J]．现代信息科技，2023，7(23)：13-16．</a:t>
            </a:r>
            <a:endParaRPr lang="en-US" sz="17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[3] 陈冈．RxJS+Vue．js+Spring响应式项目开发实战[M]．北京：清华大学出版社，2024．</a:t>
            </a:r>
            <a:endParaRPr lang="en-US" sz="17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 贾志杰．Vue+SpringBoot前后端分离开发实战[M]．2版．北京：清华大学出版社，2025．</a:t>
            </a:r>
            <a:endParaRPr lang="en-US" sz="17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[5] 李梦雯， 刘彬．微信小程序性能优化策略与实践研究[J]．移动信息（英文版）， 2024， 46(6): 270-272．</a:t>
            </a:r>
            <a:endParaRPr lang="en-US" sz="17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[6] 张齐勋，吴一凡，杨勇，贾统，李影，吴中海．微服务系统服务依赖发现技术综述[J]．软件学报，2024，35(1)．</a:t>
            </a:r>
            <a:endParaRPr lang="en-US" sz="17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[7]</a:t>
            </a:r>
            <a:r>
              <a:rPr lang="en-US" sz="17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ZHU Yuanrun． Contract Management System Based on SpringBoot and Vue[J]． Advances in Computer, Signals and Systems, 2024</a:t>
            </a:r>
            <a:r>
              <a:rPr lang="en-US" sz="17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．</a:t>
            </a:r>
            <a:endParaRPr lang="en-US" sz="17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1">
              <a:alphaModFix amt="15000"/>
            </a:blip>
            <a:stretch>
              <a:fillRect/>
            </a:stretch>
          </a:blipFill>
          <a:ln w="25400"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069">
            <a:off x="517343" y="1519015"/>
            <a:ext cx="11166655" cy="997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724150"/>
            <a:ext cx="10668000" cy="10090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33000"/>
              </a:lnSpc>
              <a:buSzTx/>
              <a:defRPr/>
            </a:pPr>
            <a:r>
              <a:rPr lang="en-US" sz="1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感谢我的指导教师董光智老师，在本项目的研究过程中给予我的宝贵指导。</a:t>
            </a:r>
            <a:endParaRPr lang="en-US" sz="18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73316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再次感谢各位的聆听与支持！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2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3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4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5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6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7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8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9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10.xml><?xml version="1.0" encoding="utf-8"?>
<p:tagLst xmlns:p="http://schemas.openxmlformats.org/presentationml/2006/main">
  <p:tag name="KSO_WM_DIAGRAM_VIRTUALLY_FRAME" val="{&quot;height&quot;:282.00177304406895,&quot;left&quot;:119.95,&quot;top&quot;:147.99911347796552,&quot;width&quot;:800.05}"/>
</p:tagLst>
</file>

<file path=ppt/tags/tag11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2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3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4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5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6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7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8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19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20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21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22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ags/tag23.xml><?xml version="1.0" encoding="utf-8"?>
<p:tagLst xmlns:p="http://schemas.openxmlformats.org/presentationml/2006/main">
  <p:tag name="KSO_WM_DIAGRAM_VIRTUALLY_FRAME" val="{&quot;height&quot;:262.0059615200547,&quot;left&quot;:96,&quot;top&quot;:158,&quot;width&quot;:76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2087</Words>
  <Application>WPS 演示</Application>
  <PresentationFormat/>
  <Paragraphs>194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WPS_1643092905</cp:lastModifiedBy>
  <cp:revision>11</cp:revision>
  <dcterms:created xsi:type="dcterms:W3CDTF">2026-01-12T09:08:00Z</dcterms:created>
  <dcterms:modified xsi:type="dcterms:W3CDTF">2026-01-16T03:27:08Z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7524B8F4287246A8828C770A1642E33C_12</vt:lpwstr>
  </property>
</Properties>
</file>